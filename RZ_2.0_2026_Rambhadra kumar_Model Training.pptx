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5305" y="635"/>
            <a:ext cx="5242560" cy="4017010"/>
          </a:xfrm>
          <a:prstGeom prst="rect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7B61FF">
                <a:alpha val="12000"/>
              </a:srgbClr>
            </a:solidFill>
            <a:prstDash val="solid"/>
          </a:ln>
        </p:spPr>
        <p:txBody>
          <a:bodyPr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0584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IN" altLang="en-US" sz="4400" b="1" kern="0" spc="4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982345"/>
            <a:ext cx="6217920" cy="828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4400" b="1" kern="0" spc="400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 Rendezvous 2.0</a:t>
            </a:r>
            <a:endParaRPr lang="en-IN" altLang="en-US" sz="4400" b="1" kern="0" spc="400" dirty="0">
              <a:solidFill>
                <a:srgbClr val="00D4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Journey in testaing.com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" y="2651760"/>
            <a:ext cx="3657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2400" b="1">
                <a:solidFill>
                  <a:srgbClr val="00B050"/>
                </a:solidFill>
              </a:rPr>
              <a:t>Ch.Rambhadra kumar</a:t>
            </a:r>
            <a:endParaRPr lang="en-IN" altLang="en-US" sz="2400" b="1">
              <a:solidFill>
                <a:srgbClr val="00B05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3245485"/>
            <a:ext cx="3657600" cy="250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 — AI Test</a:t>
            </a:r>
            <a:r>
              <a:rPr lang="en-IN" altLang="en-US" sz="13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lang="en-US" sz="13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ing Solutions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5204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 Rendezvous 2.0  | May - June 2026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Education &amp; Background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Who I 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51560"/>
            <a:ext cx="393192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51560"/>
            <a:ext cx="45720" cy="33832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61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🎓 EDUCATION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554480"/>
            <a:ext cx="356616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B.Tech  — Computer Science </a:t>
            </a:r>
            <a:r>
              <a:rPr lang="en-I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</a:t>
            </a:r>
            <a:r>
              <a:rPr lang="en-IN" altLang="en-US" sz="12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r>
              <a:rPr lang="en-US" sz="12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– 202</a:t>
            </a:r>
            <a:r>
              <a:rPr lang="en-IN" altLang="en-US" sz="12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r>
              <a:rPr lang="en-US" sz="12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|  </a:t>
            </a:r>
            <a:r>
              <a:rPr lang="en-IN" altLang="en-US" sz="12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Indian Institute of Information     technology Vadodara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Subjects: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Learning, Deep Learning, Python</a:t>
            </a:r>
            <a:r>
              <a:rPr lang="en-IN" alt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,CNN,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Structures, Computer Vision, NLP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Highlights: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FF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Projects: 5+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80560" y="1051560"/>
            <a:ext cx="438912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1051560"/>
            <a:ext cx="45720" cy="1554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114300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TECHNICAL SKILLS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663440" y="1463040"/>
            <a:ext cx="4023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</a:t>
            </a:r>
            <a:r>
              <a:rPr lang="en-IN" alt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 </a:t>
            </a: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· TensorFlow · Keras · OpenCV · NumPy · Pandas · Git · Linux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480560" y="2743200"/>
            <a:ext cx="438912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80560" y="2743200"/>
            <a:ext cx="45720" cy="169164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283464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🏆 </a:t>
            </a:r>
            <a:r>
              <a:rPr lang="en-IN" altLang="en-US" sz="1300" b="1" dirty="0">
                <a:solidFill>
                  <a:srgbClr val="00FF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Projects</a:t>
            </a:r>
            <a:endParaRPr lang="en-IN" altLang="en-US" sz="1300" b="1" dirty="0">
              <a:solidFill>
                <a:srgbClr val="00FF9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663440" y="3017520"/>
            <a:ext cx="4023360" cy="1109980"/>
          </a:xfrm>
          <a:prstGeom prst="rect">
            <a:avLst/>
          </a:prstGeom>
          <a:noFill/>
        </p:spPr>
        <p:txBody>
          <a:bodyPr wrap="square" rtlCol="0" anchor="ctr" anchorCtr="0"/>
          <a:lstStyle/>
          <a:p>
            <a:pPr marL="0" indent="0">
              <a:buNone/>
            </a:pPr>
            <a:r>
              <a:rPr lang="en-IN" altLang="en-US" sz="2800" dirty="0">
                <a:solidFill>
                  <a:schemeClr val="bg1"/>
                </a:solidFill>
              </a:rPr>
              <a:t>.</a:t>
            </a:r>
            <a:r>
              <a:rPr lang="en-IN" altLang="en-US" sz="1200" dirty="0">
                <a:solidFill>
                  <a:schemeClr val="bg1"/>
                </a:solidFill>
              </a:rPr>
              <a:t>Animal classification using CNN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IN" alt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Solar panel defect detection using deep learning.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IN" alt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Plant leaf detection using CNN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IN" alt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Fake news detector using Bert and Robert models.</a:t>
            </a:r>
            <a:endParaRPr lang="en-IN" altLang="en-US" sz="1200" dirty="0">
              <a:solidFill>
                <a:srgbClr val="C9D1D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en-IN" altLang="en-US" sz="1200" dirty="0">
              <a:solidFill>
                <a:srgbClr val="C9D1D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I'm Working 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IN" alt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</a:t>
            </a:r>
            <a:r>
              <a:rPr lang="en-IN" alt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AI/ML Intern </a:t>
            </a: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AIEnsured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51560"/>
            <a:ext cx="274320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51560"/>
            <a:ext cx="2734310" cy="347345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979805"/>
            <a:ext cx="2834005" cy="391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300" b="1" dirty="0">
                <a:solidFill>
                  <a:schemeClr val="bg1"/>
                </a:solidFill>
              </a:rPr>
              <a:t>End to End AI Pipeline</a:t>
            </a:r>
            <a:endParaRPr lang="en-IN" altLang="en-US" sz="1300" b="1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475488" y="1508760"/>
            <a:ext cx="25146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models on Animal, Flower, Brain Tumour datasets using MobileNetV2, ResNet50 &amp; EfficientNet. Comparing accuracy, loss curves, and inference time.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051560"/>
            <a:ext cx="274320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051560"/>
            <a:ext cx="2743200" cy="347472"/>
          </a:xfrm>
          <a:prstGeom prst="rect">
            <a:avLst/>
          </a:prstGeom>
          <a:solidFill>
            <a:srgbClr val="00FF94">
              <a:alpha val="30000"/>
            </a:srgbClr>
          </a:solidFill>
          <a:ln w="12700">
            <a:solidFill>
              <a:srgbClr val="00FF94">
                <a:alpha val="3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10972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DeepXplore AI Testing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401568" y="1508760"/>
            <a:ext cx="25146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Measuring neuron coverage of CNNs. Generating adversarial inputs to test model robustness &amp; identify blind spots beyond accuracy metrics.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051560"/>
            <a:ext cx="274320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1051560"/>
            <a:ext cx="2743200" cy="347472"/>
          </a:xfrm>
          <a:prstGeom prst="rect">
            <a:avLst/>
          </a:prstGeom>
          <a:solidFill>
            <a:srgbClr val="7B61FF">
              <a:alpha val="30000"/>
            </a:srgbClr>
          </a:solidFill>
          <a:ln w="12700">
            <a:solidFill>
              <a:srgbClr val="7B61FF">
                <a:alpha val="3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10972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Quantization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27648" y="1508760"/>
            <a:ext cx="25146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Reducing model size via TFLite quantization (INT8). Achieved ~4× size reduction while maintaining good accuracy for edge deployment.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4572000"/>
            <a:ext cx="1005840" cy="4114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572000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1463040" y="4736592"/>
            <a:ext cx="219456" cy="8229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682496" y="4572000"/>
            <a:ext cx="1005840" cy="4114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682496" y="4572000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688336" y="4736592"/>
            <a:ext cx="219456" cy="8229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907792" y="4572000"/>
            <a:ext cx="1005840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907792" y="4572000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913632" y="4736592"/>
            <a:ext cx="219456" cy="8229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133088" y="4572000"/>
            <a:ext cx="1005840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33088" y="4572000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138928" y="4736592"/>
            <a:ext cx="219456" cy="8229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358384" y="4572000"/>
            <a:ext cx="1005840" cy="41148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58384" y="4572000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DeepXplore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364224" y="4736592"/>
            <a:ext cx="219456" cy="8229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583680" y="4572000"/>
            <a:ext cx="1005840" cy="41148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83680" y="4572000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Quantize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589520" y="4736592"/>
            <a:ext cx="219456" cy="8229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808976" y="4572000"/>
            <a:ext cx="1005840" cy="41148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808976" y="4572000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Use Cases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Where This Makes </a:t>
            </a:r>
            <a:r>
              <a:rPr lang="en-IN" alt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</a:t>
            </a:r>
            <a:endParaRPr lang="en-IN" altLang="en-US" sz="1300" i="1" dirty="0">
              <a:solidFill>
                <a:srgbClr val="00D4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283464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834640" cy="1005840"/>
          </a:xfrm>
          <a:prstGeom prst="rect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>
                <a:alpha val="18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15568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" y="1828800"/>
            <a:ext cx="26151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Healthcare &amp; Diagnostics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84048" y="2212848"/>
            <a:ext cx="2615184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Brain tumour detection from MRI scans. Hospitals license AI models for radiology support. $B market — FDA-cleared medical AI tools fetch </a:t>
            </a:r>
            <a:r>
              <a:rPr lang="en-IN" alt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</a:t>
            </a: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per hospital.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84048" y="4206240"/>
            <a:ext cx="2615184" cy="256032"/>
          </a:xfrm>
          <a:prstGeom prst="rect">
            <a:avLst/>
          </a:prstGeom>
          <a:solidFill>
            <a:srgbClr val="00D4FF">
              <a:alpha val="35000"/>
            </a:srgbClr>
          </a:solidFill>
          <a:ln w="12700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4206240"/>
            <a:ext cx="26151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Med-Tech / Hospital SaaS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64408" y="1051560"/>
            <a:ext cx="283464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64408" y="1051560"/>
            <a:ext cx="2834640" cy="1005840"/>
          </a:xfrm>
          <a:prstGeom prst="rect">
            <a:avLst/>
          </a:prstGeom>
          <a:solidFill>
            <a:srgbClr val="00FF94">
              <a:alpha val="18000"/>
            </a:srgbClr>
          </a:solidFill>
          <a:ln w="12700">
            <a:solidFill>
              <a:srgbClr val="00FF94">
                <a:alpha val="18000"/>
              </a:srgbClr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115568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74136" y="1828800"/>
            <a:ext cx="26151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 Agriculture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74136" y="2212848"/>
            <a:ext cx="2615184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Crop disease and flower/fruit quality classification. Agri-tech companies sell AI cameras to farms. India's agri AI market projected </a:t>
            </a:r>
            <a:r>
              <a:rPr lang="en-IN" alt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grow</a:t>
            </a: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by 2030.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374136" y="4206240"/>
            <a:ext cx="2615184" cy="256032"/>
          </a:xfrm>
          <a:prstGeom prst="rect">
            <a:avLst/>
          </a:prstGeom>
          <a:solidFill>
            <a:srgbClr val="00FF94">
              <a:alpha val="35000"/>
            </a:srgbClr>
          </a:solidFill>
          <a:ln w="12700">
            <a:solidFill>
              <a:srgbClr val="00FF94">
                <a:alpha val="35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74136" y="4206240"/>
            <a:ext cx="26151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AgriTech / IoT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254496" y="1051560"/>
            <a:ext cx="283464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54496" y="1051560"/>
            <a:ext cx="2834640" cy="1005840"/>
          </a:xfrm>
          <a:prstGeom prst="rect">
            <a:avLst/>
          </a:prstGeom>
          <a:solidFill>
            <a:srgbClr val="7B61FF">
              <a:alpha val="18000"/>
            </a:srgbClr>
          </a:solidFill>
          <a:ln w="12700">
            <a:solidFill>
              <a:srgbClr val="7B61FF">
                <a:alpha val="18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76" y="1115568"/>
            <a:ext cx="640080" cy="6400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64224" y="1828800"/>
            <a:ext cx="26151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Edge AI Devices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64224" y="2212848"/>
            <a:ext cx="2615184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Quantized models run on cheap hardware (Raspberry Pi, phones). Consumer electronics brands embed this in cameras, drones, smart glasses.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364224" y="4206240"/>
            <a:ext cx="2615184" cy="256032"/>
          </a:xfrm>
          <a:prstGeom prst="rect">
            <a:avLst/>
          </a:prstGeom>
          <a:solidFill>
            <a:srgbClr val="7B61FF">
              <a:alpha val="35000"/>
            </a:srgbClr>
          </a:solidFill>
          <a:ln w="12700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364224" y="4206240"/>
            <a:ext cx="26151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 Electronics / Embedded 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Prospective Real Customers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Who Will Buy This Technology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841248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5720" cy="1188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70432"/>
            <a:ext cx="1188720" cy="274320"/>
          </a:xfrm>
          <a:prstGeom prst="rect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HEALTHCARE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0" y="118872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Apollo Hospitals 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1499616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AI-powered radiology, tumour detection, diagnostic support tools for radiologists.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1207008"/>
            <a:ext cx="2194560" cy="822960"/>
          </a:xfrm>
          <a:prstGeom prst="rect">
            <a:avLst/>
          </a:prstGeom>
          <a:solidFill>
            <a:srgbClr val="FF6B6B">
              <a:alpha val="25000"/>
            </a:srgbClr>
          </a:solidFill>
          <a:ln w="12700">
            <a:solidFill>
              <a:srgbClr val="FF6B6B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207008"/>
            <a:ext cx="2194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IN" alt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payable </a:t>
            </a: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 hospital for licensed AI model API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23160"/>
            <a:ext cx="45720" cy="118872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496312"/>
            <a:ext cx="1188720" cy="274320"/>
          </a:xfrm>
          <a:prstGeom prst="rect">
            <a:avLst/>
          </a:prstGeom>
          <a:solidFill>
            <a:srgbClr val="00FF94">
              <a:alpha val="30000"/>
            </a:srgbClr>
          </a:solidFill>
          <a:ln w="12700">
            <a:solidFill>
              <a:srgbClr val="00FF94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9631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AGRITECH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28800" y="251460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NINJACART / DeHaat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2825496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crop disease detection &amp; quality grading at warehouses and farms.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2532888"/>
            <a:ext cx="2194560" cy="822960"/>
          </a:xfrm>
          <a:prstGeom prst="rect">
            <a:avLst/>
          </a:prstGeom>
          <a:solidFill>
            <a:srgbClr val="00FF94">
              <a:alpha val="25000"/>
            </a:srgbClr>
          </a:solidFill>
          <a:ln w="12700">
            <a:solidFill>
              <a:srgbClr val="00FF94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532888"/>
            <a:ext cx="2194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💰 Subscription SaaS model or pay-per-scan revenue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841248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749040"/>
            <a:ext cx="45720" cy="1188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822192"/>
            <a:ext cx="1188720" cy="274320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82219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EDGE AI / IOT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28800" y="3858895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Boat / Noise 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28800" y="4151376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On-device AI for smart cameras, wearables, earbuds with voice &amp; image recognition.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0" y="3858768"/>
            <a:ext cx="2194560" cy="822960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2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858768"/>
            <a:ext cx="2194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💰 IP licensing + integration fees for quantized edge models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Coding Practices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Standards I Follow Every 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97280"/>
            <a:ext cx="397764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97280"/>
            <a:ext cx="45720" cy="1170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18872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PEP 8 — Python Style Guide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1517904"/>
            <a:ext cx="3657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4-space indentation, snake_case naming, max 79 chars/line, meaningful docstrings.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0" y="1097280"/>
            <a:ext cx="397764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097280"/>
            <a:ext cx="45720" cy="117043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118872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Modular &amp; Clean Code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754880" y="1517904"/>
            <a:ext cx="3657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Functions do ONE thing. Separate data loading, training, evaluation into distinct modules.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65760" y="2395728"/>
            <a:ext cx="397764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2395728"/>
            <a:ext cx="45720" cy="1170432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48716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 Control (Git)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2816352"/>
            <a:ext cx="3657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Descriptive commit messages. Feature branches per experiment. .gitignore for datasets.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572000" y="2395728"/>
            <a:ext cx="397764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0" y="2395728"/>
            <a:ext cx="45720" cy="1170432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248716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Reproducibility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54880" y="2816352"/>
            <a:ext cx="3657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seed fixed (np.random.seed / tf.random.set_seed). requirements.txt tracked.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65760" y="3694176"/>
            <a:ext cx="397764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5760" y="3694176"/>
            <a:ext cx="45720" cy="11704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3785616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48640" y="4114800"/>
            <a:ext cx="3657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Inline comments for logic, docstrings for all functions, README with setup &amp; usage.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572000" y="3694176"/>
            <a:ext cx="397764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72000" y="3694176"/>
            <a:ext cx="45720" cy="1170432"/>
          </a:xfrm>
          <a:prstGeom prst="rect">
            <a:avLst/>
          </a:prstGeom>
          <a:solidFill>
            <a:srgbClr val="00CFFF"/>
          </a:solidFill>
          <a:ln w="12700">
            <a:solidFill>
              <a:srgbClr val="00C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54880" y="3785616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Virtual Environments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754880" y="4114800"/>
            <a:ext cx="3657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conda/venv per project. No global pip installs. Clean dependency management.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Certifications — Next 3 Months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My Learning Roadmap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43000" y="1005840"/>
            <a:ext cx="1097280" cy="1097280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3000" y="100584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2286000"/>
            <a:ext cx="278892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2286000"/>
            <a:ext cx="2788920" cy="320040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2313432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/ TensorFlow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2670048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TensorFlow Developer Certificate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" y="3246120"/>
            <a:ext cx="26060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Validates ability to build &amp; train neural networks at industry level. Directly relevant to current work.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087368" y="1005840"/>
            <a:ext cx="1097280" cy="1097280"/>
          </a:xfrm>
          <a:prstGeom prst="rect">
            <a:avLst/>
          </a:prstGeom>
          <a:solidFill>
            <a:srgbClr val="FF9500">
              <a:alpha val="70000"/>
            </a:srgbClr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87368" y="100584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July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64408" y="2286000"/>
            <a:ext cx="278892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64408" y="2286000"/>
            <a:ext cx="2788920" cy="320040"/>
          </a:xfrm>
          <a:prstGeom prst="rect">
            <a:avLst/>
          </a:prstGeom>
          <a:solidFill>
            <a:srgbClr val="FF9500">
              <a:alpha val="30000"/>
            </a:srgbClr>
          </a:solidFill>
          <a:ln w="12700">
            <a:solidFill>
              <a:srgbClr val="FF9500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55848" y="2313432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Amazon Web Services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355848" y="2670048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 Certified ML — Specialty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355848" y="3246120"/>
            <a:ext cx="26060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Proves ability to deploy AI models on cloud. Needed for scaling the edge AI solutions we build.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031736" y="1005840"/>
            <a:ext cx="1097280" cy="1097280"/>
          </a:xfrm>
          <a:prstGeom prst="rect">
            <a:avLst/>
          </a:prstGeom>
          <a:solidFill>
            <a:srgbClr val="7B61FF">
              <a:alpha val="7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31736" y="100584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August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208776" y="2286000"/>
            <a:ext cx="278892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208776" y="2286000"/>
            <a:ext cx="2788920" cy="320040"/>
          </a:xfrm>
          <a:prstGeom prst="rect">
            <a:avLst/>
          </a:prstGeom>
          <a:solidFill>
            <a:srgbClr val="7B61FF">
              <a:alpha val="30000"/>
            </a:srgbClr>
          </a:solidFill>
          <a:ln w="12700">
            <a:solidFill>
              <a:srgbClr val="7B61FF">
                <a:alpha val="3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0216" y="2313432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Coursera / deeplearning.ai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300216" y="2670048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DeepLearning.AI NLP Specialization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300216" y="3246120"/>
            <a:ext cx="26060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Expands scope from vision to NLP — makes me more versatile for AIEnsured's broader AI solutions.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</a:t>
            </a: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Ideas for AIEnsured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IN" alt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Growth Opportunities I See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834640" cy="379476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097280"/>
            <a:ext cx="594360" cy="594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9728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Model Testing as a Service (MTaaS)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265176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SaaS platform where any company can upload their AI model and receive a comprehensive test report — coverage score, adversarial robustness, bias analysis. Charge per-report or subscription.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980" y="4297680"/>
            <a:ext cx="2651760" cy="38404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297680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B2B SaaS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64408" y="1005840"/>
            <a:ext cx="2834640" cy="379476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74136" y="1097280"/>
            <a:ext cx="594360" cy="59436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109728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55848" y="182880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Edge AI Model Marketplace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55848" y="2468880"/>
            <a:ext cx="265176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Pre-trained, quantized models for healthcare, agriculture, and retail packaged for edge deployment. Sell to IoT startups who lack ML teams. License + integration support.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55848" y="4297680"/>
            <a:ext cx="2651760" cy="384048"/>
          </a:xfrm>
          <a:prstGeom prst="rect">
            <a:avLst/>
          </a:prstGeom>
          <a:solidFill>
            <a:srgbClr val="00FF94">
              <a:alpha val="30000"/>
            </a:srgbClr>
          </a:solidFill>
          <a:ln w="12700">
            <a:solidFill>
              <a:srgbClr val="00FF94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4297680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💰 License + Royalty  |  Marketplace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54496" y="1005840"/>
            <a:ext cx="2834640" cy="379476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64224" y="1097280"/>
            <a:ext cx="594360" cy="59436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4224" y="109728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45936" y="182880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Compliance &amp; Certification Platform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45936" y="2468880"/>
            <a:ext cx="265176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AI regulation grows (EU AI Act, India DPDP), companies need certified AI models. AIEnsured becomes the 'TÜV SÜD of AI' — certifying models for safety, fairness, and reliability.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45936" y="4297680"/>
            <a:ext cx="2651760" cy="384048"/>
          </a:xfrm>
          <a:prstGeom prst="rect">
            <a:avLst/>
          </a:prstGeom>
          <a:solidFill>
            <a:srgbClr val="7B61FF">
              <a:alpha val="30000"/>
            </a:srgbClr>
          </a:solidFill>
          <a:ln w="12700">
            <a:solidFill>
              <a:srgbClr val="7B61FF">
                <a:alpha val="30000"/>
              </a:srgbClr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45936" y="4297680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Regulatory Tech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of AI &amp; LLMs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IN" alt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My AI Understanding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51560"/>
            <a:ext cx="411480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51560"/>
            <a:ext cx="45720" cy="38862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143000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61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🧠 </a:t>
            </a:r>
            <a:r>
              <a:rPr lang="en-IN" altLang="en-US" sz="1300" b="1" dirty="0">
                <a:solidFill>
                  <a:srgbClr val="7B61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</a:t>
            </a:r>
            <a:r>
              <a:rPr lang="en-US" sz="1300" b="1" dirty="0">
                <a:solidFill>
                  <a:srgbClr val="7B61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572768"/>
            <a:ext cx="1783080" cy="502920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572768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14600" y="1572768"/>
            <a:ext cx="1783080" cy="502920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14600" y="1572768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Transfer Learning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2231136"/>
            <a:ext cx="1783080" cy="502920"/>
          </a:xfrm>
          <a:prstGeom prst="rect">
            <a:avLst/>
          </a:prstGeom>
          <a:solidFill>
            <a:srgbClr val="00FF94">
              <a:alpha val="30000"/>
            </a:srgbClr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231136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Quantization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514600" y="2231136"/>
            <a:ext cx="1783080" cy="502920"/>
          </a:xfrm>
          <a:prstGeom prst="rect">
            <a:avLst/>
          </a:prstGeom>
          <a:solidFill>
            <a:srgbClr val="00FF94">
              <a:alpha val="30000"/>
            </a:srgbClr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14600" y="2231136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DeepXplore Testing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2889504"/>
            <a:ext cx="1783080" cy="502920"/>
          </a:xfrm>
          <a:prstGeom prst="rect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889504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1200" b="1" dirty="0">
                <a:solidFill>
                  <a:schemeClr val="bg1"/>
                </a:solidFill>
              </a:rPr>
              <a:t>Vector bases</a:t>
            </a:r>
            <a:endParaRPr lang="en-IN" altLang="en-US" sz="1200" b="1" dirty="0">
              <a:solidFill>
                <a:schemeClr val="bg1"/>
              </a:solidFill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514600" y="2889504"/>
            <a:ext cx="1783080" cy="502920"/>
          </a:xfrm>
          <a:prstGeom prst="rect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14600" y="2889504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Augmentation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63440" y="1051560"/>
            <a:ext cx="411480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63440" y="1051560"/>
            <a:ext cx="45720" cy="3886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1143000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🤖 LLM KNOWLEDGE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846320" y="1508760"/>
            <a:ext cx="3749040" cy="3246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 Architecture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Self-attention, encoder-decoder, positional encoding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Major LLMs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GPT-4, Gemini, Claude, LLaMA, Mistral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&amp; Prompt Engineering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Retrieval-Augmented Generation, zero/few-shot prompting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Testing for LLMs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FF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Hallucination detection, bias testing, red-teaming — directly applicable to AIEnsured's mission</a:t>
            </a:r>
            <a:endParaRPr lang="en-US" sz="1150" dirty="0"/>
          </a:p>
        </p:txBody>
      </p:sp>
      <p:sp>
        <p:nvSpPr>
          <p:cNvPr id="26" name="Shape 14"/>
          <p:cNvSpPr/>
          <p:nvPr/>
        </p:nvSpPr>
        <p:spPr>
          <a:xfrm>
            <a:off x="548640" y="3593465"/>
            <a:ext cx="1783080" cy="625475"/>
          </a:xfrm>
          <a:prstGeom prst="rect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 anchor="t" anchorCtr="0"/>
          <a:p>
            <a:pPr algn="ctr">
              <a:lnSpc>
                <a:spcPct val="100000"/>
              </a:lnSpc>
            </a:pPr>
            <a:endParaRPr lang="en-IN" altLang="en-US" sz="1200" b="1">
              <a:solidFill>
                <a:schemeClr val="bg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IN" altLang="en-US" sz="1200" b="1">
                <a:solidFill>
                  <a:schemeClr val="bg1"/>
                </a:solidFill>
              </a:rPr>
              <a:t>Langchain</a:t>
            </a:r>
            <a:endParaRPr lang="en-IN" altLang="en-US" sz="1200" b="1">
              <a:solidFill>
                <a:schemeClr val="bg1"/>
              </a:solidFill>
            </a:endParaRPr>
          </a:p>
        </p:txBody>
      </p:sp>
      <p:sp>
        <p:nvSpPr>
          <p:cNvPr id="27" name="Shape 14"/>
          <p:cNvSpPr/>
          <p:nvPr/>
        </p:nvSpPr>
        <p:spPr>
          <a:xfrm>
            <a:off x="2505710" y="3593465"/>
            <a:ext cx="1783080" cy="625475"/>
          </a:xfrm>
          <a:prstGeom prst="rect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 anchor="t" anchorCtr="0"/>
          <a:p>
            <a:pPr algn="ctr">
              <a:lnSpc>
                <a:spcPct val="100000"/>
              </a:lnSpc>
            </a:pPr>
            <a:endParaRPr lang="en-IN" altLang="en-US" sz="1200" b="1">
              <a:solidFill>
                <a:schemeClr val="bg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IN" altLang="en-US" sz="1200" b="1">
                <a:solidFill>
                  <a:schemeClr val="bg1"/>
                </a:solidFill>
              </a:rPr>
              <a:t>RAG</a:t>
            </a:r>
            <a:endParaRPr lang="en-IN" altLang="en-US" sz="12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Experience at AIEnsured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IN" alt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Reflections &amp; Takeaways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2743200"/>
            <a:ext cx="3200400" cy="3200400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841248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097280"/>
            <a:ext cx="795528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 Working at AIEnsured taught me that building AI is only half the job — testing and validating it is what makes it trustworthy. 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397764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9260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274320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Industry-grade AI Testing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24128" y="306324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DeepXplore neuron coverage — beyond accuracy to true robustness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663440" y="2651760"/>
            <a:ext cx="397764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29260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21808" y="274320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ML Pipeline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21808" y="306324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raw dataset → trained model → quantized → deployment-ready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65760" y="3840480"/>
            <a:ext cx="397764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1148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4128" y="39319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Mindset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24128" y="425196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Comparing architectures systematically, not guessing what's better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663440" y="3840480"/>
            <a:ext cx="397764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41148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21808" y="39319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Discipline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321808" y="425196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PEP 8, Git practices, documentation — habits that last a career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 Will Improve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IN" alt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Technical &amp; Personal Growth Plan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51560"/>
            <a:ext cx="406908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51560"/>
            <a:ext cx="4069080" cy="347472"/>
          </a:xfrm>
          <a:prstGeom prst="rect">
            <a:avLst/>
          </a:prstGeom>
          <a:solidFill>
            <a:srgbClr val="00D4FF">
              <a:alpha val="28000"/>
            </a:srgbClr>
          </a:solidFill>
          <a:ln w="12700">
            <a:solidFill>
              <a:srgbClr val="00D4FF">
                <a:alpha val="2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097280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⚙️ TECHNICAL IMPROVEMENTS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1581912"/>
            <a:ext cx="228600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1508760"/>
            <a:ext cx="3429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Deepen NLP &amp; LLM knowledge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1819656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Study transformers, fine-tuning, RAG pipelines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2386584"/>
            <a:ext cx="228600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2313432"/>
            <a:ext cx="3429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MLOps &amp; Deployment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" y="2624328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 Docker, FastAPI, cloud model serving (AWS SageMaker)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2920" y="3191256"/>
            <a:ext cx="228600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118104"/>
            <a:ext cx="3429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 AI Testing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68680" y="342900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Explore fairness testing, explainability (SHAP, LIME)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2920" y="3995928"/>
            <a:ext cx="228600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3922776"/>
            <a:ext cx="3429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Mathematics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68680" y="4233672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Strengthen linear algebra &amp; probability for better model intuition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663440" y="1051560"/>
            <a:ext cx="406908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63440" y="1051560"/>
            <a:ext cx="4069080" cy="347472"/>
          </a:xfrm>
          <a:prstGeom prst="rect">
            <a:avLst/>
          </a:prstGeom>
          <a:solidFill>
            <a:srgbClr val="00FF94">
              <a:alpha val="28000"/>
            </a:srgbClr>
          </a:solidFill>
          <a:ln w="12700">
            <a:solidFill>
              <a:srgbClr val="00FF94">
                <a:alpha val="2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00600" y="1097280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🌱 PERSONAL IMPROVEMENTS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800600" y="1581912"/>
            <a:ext cx="228600" cy="22860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66360" y="1508760"/>
            <a:ext cx="3429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Communication &amp; Presentation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166360" y="1819656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Practise explaining complex AI concepts simply to non-technical audiences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800600" y="2386584"/>
            <a:ext cx="228600" cy="22860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66360" y="2313432"/>
            <a:ext cx="3429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 &amp; Task Management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166360" y="2624328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structured sprints (Pomodoro), track experiments in a research journal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800600" y="3191256"/>
            <a:ext cx="228600" cy="22860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66360" y="3118104"/>
            <a:ext cx="3429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Proactive Ownership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166360" y="342900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questions early, raise blockers sooner, take initiative on improvements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800600" y="3995928"/>
            <a:ext cx="228600" cy="22860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166360" y="3922776"/>
            <a:ext cx="3429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Networking &amp; Writing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166360" y="4233672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Publish technical articles on LinkedIn / Medium; engage in AI communities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rect">
            <a:avLst/>
          </a:prstGeom>
          <a:solidFill>
            <a:srgbClr val="7B61FF">
              <a:alpha val="14000"/>
            </a:srgbClr>
          </a:solidFill>
          <a:ln w="12700">
            <a:solidFill>
              <a:srgbClr val="7B61FF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371600"/>
            <a:ext cx="4572000" cy="457200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12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2024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1371600" y="2834640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AI isn't just about finding bugs — it's about making AI worthy of trust.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200400" y="3429000"/>
            <a:ext cx="27432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5844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Rambhadra kumar  |  AI Testi</a:t>
            </a:r>
            <a:r>
              <a:rPr lang="en-IN" altLang="en-US" sz="13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lang="en-US" sz="13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 Solutions Intern  |  AIEnsured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828800" y="42062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 Welcome 🙌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6381</Words>
  <Application>WPS Presentation</Application>
  <PresentationFormat>On-screen Show (16:9)</PresentationFormat>
  <Paragraphs>312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 Rendezvous 2.0 - AI Testing</dc:title>
  <dc:creator>PptxGenJS</dc:creator>
  <dc:subject>PptxGenJS Presentation</dc:subject>
  <cp:lastModifiedBy>Rambhadra Kumar</cp:lastModifiedBy>
  <cp:revision>38</cp:revision>
  <dcterms:created xsi:type="dcterms:W3CDTF">2026-06-01T08:20:00Z</dcterms:created>
  <dcterms:modified xsi:type="dcterms:W3CDTF">2026-06-04T11:05:41Z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6D0C491AB9A347169CD59BC94F2DF1CD_12</vt:lpwstr>
  </property>
</Properties>
</file>